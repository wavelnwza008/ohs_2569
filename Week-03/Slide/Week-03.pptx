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70" r:id="rId4"/>
    <p:sldId id="258" r:id="rId5"/>
    <p:sldId id="279" r:id="rId6"/>
    <p:sldId id="271" r:id="rId7"/>
    <p:sldId id="272" r:id="rId8"/>
    <p:sldId id="260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59" r:id="rId17"/>
    <p:sldId id="281" r:id="rId18"/>
    <p:sldId id="261" r:id="rId19"/>
    <p:sldId id="263" r:id="rId20"/>
    <p:sldId id="264" r:id="rId21"/>
    <p:sldId id="282" r:id="rId22"/>
    <p:sldId id="283" r:id="rId23"/>
    <p:sldId id="284" r:id="rId24"/>
    <p:sldId id="285" r:id="rId25"/>
    <p:sldId id="266" r:id="rId26"/>
  </p:sldIdLst>
  <p:sldSz cx="12192000" cy="6858000"/>
  <p:notesSz cx="6858000" cy="9144000"/>
  <p:embeddedFontLst>
    <p:embeddedFont>
      <p:font typeface="Amasis MT Pro Black" panose="02040A04050005020304" pitchFamily="18" charset="0"/>
      <p:bold r:id="rId28"/>
      <p:boldItalic r:id="rId29"/>
    </p:embeddedFont>
    <p:embeddedFont>
      <p:font typeface="Aptos ExtraBold" panose="020B0004020202020204" pitchFamily="34" charset="0"/>
      <p:bold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omfortaa" panose="020B0604020202020204" charset="0"/>
      <p:regular r:id="rId33"/>
      <p:bold r:id="rId34"/>
    </p:embeddedFont>
    <p:embeddedFont>
      <p:font typeface="Prompt" panose="00000500000000000000" pitchFamily="2" charset="-34"/>
      <p:regular r:id="rId35"/>
      <p:bold r:id="rId36"/>
      <p:italic r:id="rId37"/>
      <p:boldItalic r:id="rId38"/>
    </p:embeddedFont>
    <p:embeddedFont>
      <p:font typeface="Prompt Medium" panose="020B0502040204020203" pitchFamily="2" charset="-34"/>
      <p:regular r:id="rId39"/>
      <p:bold r:id="rId40"/>
      <p:italic r:id="rId41"/>
      <p:boldItalic r:id="rId42"/>
    </p:embeddedFont>
    <p:embeddedFont>
      <p:font typeface="Sarabun" panose="00000500000000000000" pitchFamily="2" charset="-34"/>
      <p:regular r:id="rId43"/>
      <p:bold r:id="rId44"/>
      <p:italic r:id="rId45"/>
      <p:boldItalic r:id="rId46"/>
    </p:embeddedFont>
    <p:embeddedFont>
      <p:font typeface="Sarabun Medium" panose="00000600000000000000" pitchFamily="2" charset="-34"/>
      <p:regular r:id="rId47"/>
      <p:bold r:id="rId48"/>
      <p:italic r:id="rId49"/>
      <p:boldItalic r:id="rId50"/>
    </p:embeddedFont>
    <p:embeddedFont>
      <p:font typeface="TH Sarabun New" panose="020B0500040200020003" pitchFamily="34" charset="-34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707FFB-746F-4325-905F-2161814F41B3}">
  <a:tblStyle styleId="{C4707FFB-746F-4325-905F-2161814F41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font" Target="fonts/font2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A057BBC-847E-3D8B-18C4-9EA68798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66ECE7A-1153-BA26-B63A-2BE97D099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6253D1-943F-8C5F-18CD-263861B3A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4556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D828772-4E8B-B2B2-7B80-785CF45C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E3AEF9CF-C3FA-FCA5-5188-8A20E04BE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:notes">
            <a:extLst>
              <a:ext uri="{FF2B5EF4-FFF2-40B4-BE49-F238E27FC236}">
                <a16:creationId xmlns:a16="http://schemas.microsoft.com/office/drawing/2014/main" id="{D38CEA35-2A2B-BBC6-C926-FE459FA28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55629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3736DB-F8AC-985F-4968-8DF87DCF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2573ED1F-B86A-22CB-28E2-FC25E3841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ABE6DC7B-584E-6149-A497-7AC257745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0424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4484D76-248A-FB79-F253-3309565B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10E1FA05-AC68-C1E3-A82F-ECF31FE2E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5098DE5D-DE27-35F2-50D4-FE0A33B1E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70193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8DB2B25F-D8AF-30B7-8A63-5E0300B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>
            <a:extLst>
              <a:ext uri="{FF2B5EF4-FFF2-40B4-BE49-F238E27FC236}">
                <a16:creationId xmlns:a16="http://schemas.microsoft.com/office/drawing/2014/main" id="{F5FB6DB5-737C-08E7-931E-769B385EC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>
            <a:extLst>
              <a:ext uri="{FF2B5EF4-FFF2-40B4-BE49-F238E27FC236}">
                <a16:creationId xmlns:a16="http://schemas.microsoft.com/office/drawing/2014/main" id="{3239F776-E627-650A-975B-08F23F6EB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5680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05213980-62CB-A2C0-0E37-BF392181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>
            <a:extLst>
              <a:ext uri="{FF2B5EF4-FFF2-40B4-BE49-F238E27FC236}">
                <a16:creationId xmlns:a16="http://schemas.microsoft.com/office/drawing/2014/main" id="{ADBFF4BD-5399-2567-6172-219CF9AC8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>
            <a:extLst>
              <a:ext uri="{FF2B5EF4-FFF2-40B4-BE49-F238E27FC236}">
                <a16:creationId xmlns:a16="http://schemas.microsoft.com/office/drawing/2014/main" id="{DE7E301C-278C-BF6C-F2C1-C7CCFD93D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6925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EF0D077D-C4EF-9E0B-0940-586497F1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>
            <a:extLst>
              <a:ext uri="{FF2B5EF4-FFF2-40B4-BE49-F238E27FC236}">
                <a16:creationId xmlns:a16="http://schemas.microsoft.com/office/drawing/2014/main" id="{96A28CAA-480A-A9EF-1C4C-94EA4032E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>
            <a:extLst>
              <a:ext uri="{FF2B5EF4-FFF2-40B4-BE49-F238E27FC236}">
                <a16:creationId xmlns:a16="http://schemas.microsoft.com/office/drawing/2014/main" id="{34093012-1BEA-2D70-1A2C-EE604C449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4769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7C9D8DF8-0C5B-2628-66BE-3DA20C80D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>
            <a:extLst>
              <a:ext uri="{FF2B5EF4-FFF2-40B4-BE49-F238E27FC236}">
                <a16:creationId xmlns:a16="http://schemas.microsoft.com/office/drawing/2014/main" id="{9F46536B-486C-8936-D248-23A3E6389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>
            <a:extLst>
              <a:ext uri="{FF2B5EF4-FFF2-40B4-BE49-F238E27FC236}">
                <a16:creationId xmlns:a16="http://schemas.microsoft.com/office/drawing/2014/main" id="{0A983810-359C-235F-01D0-2C5454F6A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2983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BC2F60A-5B1F-A0A3-2BC5-C21639FABE6F}"/>
              </a:ext>
            </a:extLst>
          </p:cNvPr>
          <p:cNvSpPr txBox="1">
            <a:spLocks/>
          </p:cNvSpPr>
          <p:nvPr/>
        </p:nvSpPr>
        <p:spPr>
          <a:xfrm>
            <a:off x="425776" y="1454846"/>
            <a:ext cx="11340445" cy="238760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dirty="0">
                <a:solidFill>
                  <a:srgbClr val="00B0F0"/>
                </a:solidFill>
                <a:latin typeface="Amasis MT Pro Black" panose="020F0502020204030204" pitchFamily="18" charset="0"/>
              </a:rPr>
              <a:t>OCCUPATIONAL HEALTH AND SAFETY</a:t>
            </a:r>
            <a:endParaRPr lang="th-TH" sz="6600" dirty="0">
              <a:solidFill>
                <a:srgbClr val="00B0F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93CDFCDF-50C6-091A-FD29-8D283208DA6C}"/>
              </a:ext>
            </a:extLst>
          </p:cNvPr>
          <p:cNvSpPr txBox="1">
            <a:spLocks/>
          </p:cNvSpPr>
          <p:nvPr/>
        </p:nvSpPr>
        <p:spPr>
          <a:xfrm>
            <a:off x="1523998" y="3931976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b="1" dirty="0">
                <a:solidFill>
                  <a:srgbClr val="0070C0"/>
                </a:solidFill>
                <a:latin typeface="Aptos ExtraBold" panose="020F0502020204030204" pitchFamily="34" charset="0"/>
              </a:rPr>
              <a:t>03376119</a:t>
            </a:r>
            <a:endParaRPr lang="th-TH" sz="3600" b="1" dirty="0">
              <a:solidFill>
                <a:srgbClr val="0070C0"/>
              </a:solidFill>
              <a:latin typeface="Aptos ExtraBold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-17859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4812" y="1295401"/>
            <a:ext cx="5798025" cy="1146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136" y="2686639"/>
            <a:ext cx="8566264" cy="107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8953" y="4007257"/>
            <a:ext cx="4409779" cy="93338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1222563" y="1620226"/>
            <a:ext cx="541128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 Medium"/>
                <a:cs typeface="TH Sarabun New" panose="020B0500040200020003" pitchFamily="34" charset="-34"/>
                <a:sym typeface="Prompt Medium"/>
              </a:rPr>
              <a:t>ชั่วโมงที่</a:t>
            </a:r>
            <a:r>
              <a:rPr lang="en-US" sz="4000" b="1" i="0" u="none" strike="noStrike" cap="none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 Medium"/>
                <a:cs typeface="TH Sarabun New" panose="020B0500040200020003" pitchFamily="34" charset="-34"/>
                <a:sym typeface="Prompt Medium"/>
              </a:rPr>
              <a:t> 1: Physiology of Injury</a:t>
            </a:r>
            <a:endParaRPr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3384076" y="2996802"/>
            <a:ext cx="822329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ชั่วโมงที่</a:t>
            </a:r>
            <a:r>
              <a:rPr lang="en-US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 2: Design Mascot’s</a:t>
            </a:r>
            <a:r>
              <a:rPr lang="th-TH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 </a:t>
            </a:r>
            <a:r>
              <a:rPr lang="th-TH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Worst</a:t>
            </a:r>
            <a:r>
              <a:rPr lang="th-TH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-</a:t>
            </a:r>
            <a:r>
              <a:rPr lang="th-TH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Case</a:t>
            </a:r>
            <a:r>
              <a:rPr lang="th-TH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Scenario</a:t>
            </a:r>
            <a:endParaRPr sz="4000" b="1" dirty="0">
              <a:solidFill>
                <a:srgbClr val="1E1B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5430743" y="4076692"/>
            <a:ext cx="3180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ชั่วโมงที่</a:t>
            </a:r>
            <a:r>
              <a:rPr lang="en-US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 3: Pitching</a:t>
            </a:r>
            <a:endParaRPr sz="4000" b="1" dirty="0">
              <a:solidFill>
                <a:srgbClr val="1E1B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6" name="Google Shape;13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75655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38156" y="305294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5543" y="4213019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714375" y="378382"/>
            <a:ext cx="114514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แผนการเรียนรู้</a:t>
            </a:r>
            <a:r>
              <a:rPr lang="en-US" sz="4800" b="1" i="0" u="none" strike="noStrike" cap="none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 3 </a:t>
            </a:r>
            <a:r>
              <a:rPr lang="en-US" sz="4800" b="1" i="0" u="none" strike="noStrike" cap="none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"/>
                <a:cs typeface="TH Sarabun New" panose="020B0500040200020003" pitchFamily="34" charset="-34"/>
                <a:sym typeface="Prompt"/>
              </a:rPr>
              <a:t>ชั่วโมง</a:t>
            </a:r>
            <a:endParaRPr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46AFFB8-580A-CF04-4017-026C8894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7A48DA48-4645-B791-405C-0D17C1541A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DEEBC5F8-EF15-40DA-96F3-467A34588E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3750" y="2765077"/>
            <a:ext cx="5524500" cy="30917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22FEFC3F-C967-3189-A47A-DF5A3655BDB7}"/>
              </a:ext>
            </a:extLst>
          </p:cNvPr>
          <p:cNvSpPr txBox="1"/>
          <p:nvPr/>
        </p:nvSpPr>
        <p:spPr>
          <a:xfrm>
            <a:off x="2755582" y="361208"/>
            <a:ext cx="668083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2" name="Google Shape;92;p13" descr="image.png">
            <a:extLst>
              <a:ext uri="{FF2B5EF4-FFF2-40B4-BE49-F238E27FC236}">
                <a16:creationId xmlns:a16="http://schemas.microsoft.com/office/drawing/2014/main" id="{D2D92ACC-BB14-A65C-4078-0F7B2C96A7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3525" y="490474"/>
            <a:ext cx="9410700" cy="5453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406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757237" y="1167348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การสูดดม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(Inhalation)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ทางเข้าที่เร็วที่สุดของสารเคมี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ก๊าซ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และฝุ่นละออง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ผ่านเข้าไปยังปอดและซึมเข้าสู่กระแสเลือดโดยตรง</a:t>
            </a:r>
            <a:endParaRPr sz="2800" dirty="0"/>
          </a:p>
        </p:txBody>
      </p:sp>
      <p:sp>
        <p:nvSpPr>
          <p:cNvPr id="165" name="Google Shape;165;p15"/>
          <p:cNvSpPr txBox="1"/>
          <p:nvPr/>
        </p:nvSpPr>
        <p:spPr>
          <a:xfrm>
            <a:off x="757237" y="2321004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การซึมผ่านผิวหนัง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(Absorption)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สารพิษซึมผ่านรูขุมขนหรือผิวหนังที่บาดเจ็บ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โดยเฉพาะสารทำละลายอินทรีย์ที่ใช้ล้างบอร์ดอิเล็กทรอนิกส์</a:t>
            </a:r>
            <a:endParaRPr sz="2800" dirty="0"/>
          </a:p>
        </p:txBody>
      </p:sp>
      <p:sp>
        <p:nvSpPr>
          <p:cNvPr id="166" name="Google Shape;166;p15"/>
          <p:cNvSpPr txBox="1"/>
          <p:nvPr/>
        </p:nvSpPr>
        <p:spPr>
          <a:xfrm>
            <a:off x="757237" y="3546634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การกลืนกิน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(Ingestion)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การปนเปื้อนสารอันตรายจากมือไปสู่ของกินและเครื่องดื่ม</a:t>
            </a:r>
            <a:r>
              <a:rPr lang="th-TH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เช่น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ขณะนั่งทำงานบนโต๊ะคอมพิวเตอร์</a:t>
            </a:r>
            <a:endParaRPr sz="2800" dirty="0"/>
          </a:p>
        </p:txBody>
      </p:sp>
      <p:sp>
        <p:nvSpPr>
          <p:cNvPr id="167" name="Google Shape;167;p15"/>
          <p:cNvSpPr txBox="1"/>
          <p:nvPr/>
        </p:nvSpPr>
        <p:spPr>
          <a:xfrm>
            <a:off x="757237" y="4772264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การกระแทกและฝืนสรีระ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(Impact &amp; Ergonomics)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แรงภายนอกปะทะร่างกาย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หรือแรงภายในสะสมจากการจัดท่าทางที่ขัดต่อสัญชาตญาณธรรมชาติ</a:t>
            </a:r>
            <a:endParaRPr sz="2800" dirty="0"/>
          </a:p>
        </p:txBody>
      </p:sp>
      <p:sp>
        <p:nvSpPr>
          <p:cNvPr id="172" name="Google Shape;172;p15"/>
          <p:cNvSpPr txBox="1"/>
          <p:nvPr/>
        </p:nvSpPr>
        <p:spPr>
          <a:xfrm>
            <a:off x="714375" y="409159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ทางเข้าของอันตราย</a:t>
            </a:r>
            <a:r>
              <a:rPr lang="en-US" sz="44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 (Routes of Entry)</a:t>
            </a:r>
            <a:endParaRPr sz="4400" b="1" dirty="0">
              <a:solidFill>
                <a:srgbClr val="1E1B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E632E84-073B-46AB-96F0-241F91AB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 descr="image.png">
            <a:extLst>
              <a:ext uri="{FF2B5EF4-FFF2-40B4-BE49-F238E27FC236}">
                <a16:creationId xmlns:a16="http://schemas.microsoft.com/office/drawing/2014/main" id="{8DC09BE2-114B-3A20-1F7B-71319007A9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>
            <a:extLst>
              <a:ext uri="{FF2B5EF4-FFF2-40B4-BE49-F238E27FC236}">
                <a16:creationId xmlns:a16="http://schemas.microsoft.com/office/drawing/2014/main" id="{ABD5750C-6679-563C-53C3-33D8D7E09E50}"/>
              </a:ext>
            </a:extLst>
          </p:cNvPr>
          <p:cNvSpPr txBox="1"/>
          <p:nvPr/>
        </p:nvSpPr>
        <p:spPr>
          <a:xfrm>
            <a:off x="757237" y="1167348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60"/>
              </a:lnSpc>
            </a:pPr>
            <a:r>
              <a:rPr lang="th-TH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เสียงและการได้ยิน 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Audio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Input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: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Ears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&amp;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Hearing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Mechanism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)</a:t>
            </a:r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 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  <a:sym typeface="Sarabun Medium"/>
              </a:rPr>
              <a:t>เสียงดังไม่ได้ซึมเข้ากระแสเลือด แต่สามารถทำลายหรือลดประสิทธิภาพในการได้ยิน หรือเพิ่มความเครียด</a:t>
            </a:r>
            <a:endParaRPr sz="2400" dirty="0">
              <a:solidFill>
                <a:srgbClr val="475569"/>
              </a:solidFill>
              <a:latin typeface="Sarabun"/>
              <a:cs typeface="Sarabun"/>
            </a:endParaRPr>
          </a:p>
        </p:txBody>
      </p:sp>
      <p:sp>
        <p:nvSpPr>
          <p:cNvPr id="165" name="Google Shape;165;p15">
            <a:extLst>
              <a:ext uri="{FF2B5EF4-FFF2-40B4-BE49-F238E27FC236}">
                <a16:creationId xmlns:a16="http://schemas.microsoft.com/office/drawing/2014/main" id="{CF1BF508-CCA6-86BA-A64A-DC1374C8E5DE}"/>
              </a:ext>
            </a:extLst>
          </p:cNvPr>
          <p:cNvSpPr txBox="1"/>
          <p:nvPr/>
        </p:nvSpPr>
        <p:spPr>
          <a:xfrm>
            <a:off x="757237" y="2321004"/>
            <a:ext cx="106775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60"/>
              </a:lnSpc>
            </a:pPr>
            <a:r>
              <a:rPr lang="th-TH" sz="2400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แสงและการมองเห็น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</a:t>
            </a:r>
            <a:r>
              <a:rPr lang="th-TH" sz="2400" dirty="0" err="1"/>
              <a:t>Optical</a:t>
            </a:r>
            <a:r>
              <a:rPr lang="th-TH" sz="2400" dirty="0"/>
              <a:t> &amp; </a:t>
            </a:r>
            <a:r>
              <a:rPr lang="th-TH" sz="2400" dirty="0" err="1"/>
              <a:t>Sensory</a:t>
            </a:r>
            <a:r>
              <a:rPr lang="th-TH" sz="2400" dirty="0"/>
              <a:t> </a:t>
            </a:r>
            <a:r>
              <a:rPr lang="th-TH" sz="2400" dirty="0" err="1"/>
              <a:t>Degradation</a:t>
            </a:r>
            <a:r>
              <a:rPr lang="en-US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)</a:t>
            </a:r>
            <a:r>
              <a:rPr lang="th-TH" sz="24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  <a:sym typeface="Sarabun Medium"/>
              </a:rPr>
              <a:t>แสงไม่ได้ซึมเข้ากระแสเลือด แต่สามารถทำลายหรือลดประสิทธิภาพในการมองเห็น หรือเพิ่มความเครียด</a:t>
            </a:r>
            <a:endParaRPr sz="2800" dirty="0"/>
          </a:p>
        </p:txBody>
      </p:sp>
      <p:sp>
        <p:nvSpPr>
          <p:cNvPr id="172" name="Google Shape;172;p15">
            <a:extLst>
              <a:ext uri="{FF2B5EF4-FFF2-40B4-BE49-F238E27FC236}">
                <a16:creationId xmlns:a16="http://schemas.microsoft.com/office/drawing/2014/main" id="{3F33405F-20E7-3DD0-BF92-CB44C93EE067}"/>
              </a:ext>
            </a:extLst>
          </p:cNvPr>
          <p:cNvSpPr txBox="1"/>
          <p:nvPr/>
        </p:nvSpPr>
        <p:spPr>
          <a:xfrm>
            <a:off x="714375" y="409159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ทางเข้าของอันตราย</a:t>
            </a:r>
            <a:r>
              <a:rPr lang="en-US" sz="44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 (Routes of Entry)</a:t>
            </a:r>
            <a:endParaRPr sz="4400" b="1" dirty="0">
              <a:solidFill>
                <a:srgbClr val="1E1B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7402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45;p15" descr="image.png">
            <a:extLst>
              <a:ext uri="{FF2B5EF4-FFF2-40B4-BE49-F238E27FC236}">
                <a16:creationId xmlns:a16="http://schemas.microsoft.com/office/drawing/2014/main" id="{C813D3F3-A004-EA94-17D8-D92A66EAE7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รูปภาพ 1" descr=" สร้างโดย AI">
            <a:extLst>
              <a:ext uri="{FF2B5EF4-FFF2-40B4-BE49-F238E27FC236}">
                <a16:creationId xmlns:a16="http://schemas.microsoft.com/office/drawing/2014/main" id="{B88A5707-75E3-BAB6-0BDC-CE6F07CC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" y="844123"/>
            <a:ext cx="6036612" cy="5143500"/>
          </a:xfrm>
          <a:prstGeom prst="rect">
            <a:avLst/>
          </a:prstGeom>
        </p:spPr>
      </p:pic>
      <p:pic>
        <p:nvPicPr>
          <p:cNvPr id="3" name="รูปภาพ 2" descr=" สร้างโดย AI">
            <a:extLst>
              <a:ext uri="{FF2B5EF4-FFF2-40B4-BE49-F238E27FC236}">
                <a16:creationId xmlns:a16="http://schemas.microsoft.com/office/drawing/2014/main" id="{B7D8CC43-30DD-3424-E7EF-A6268D668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88" y="1464617"/>
            <a:ext cx="5624073" cy="5143500"/>
          </a:xfrm>
          <a:prstGeom prst="rect">
            <a:avLst/>
          </a:prstGeom>
        </p:spPr>
      </p:pic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B1AA3764-C0A8-AEFB-726F-33EDF7278F28}"/>
              </a:ext>
            </a:extLst>
          </p:cNvPr>
          <p:cNvSpPr txBox="1"/>
          <p:nvPr/>
        </p:nvSpPr>
        <p:spPr>
          <a:xfrm>
            <a:off x="195263" y="245417"/>
            <a:ext cx="4662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การสูดดม</a:t>
            </a:r>
            <a:r>
              <a:rPr lang="en-US" sz="36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(Inhalation) </a:t>
            </a:r>
            <a:endParaRPr lang="th-TH" sz="2000" dirty="0"/>
          </a:p>
        </p:txBody>
      </p:sp>
    </p:spTree>
    <p:extLst>
      <p:ext uri="{BB962C8B-B14F-4D97-AF65-F5344CB8AC3E}">
        <p14:creationId xmlns:p14="http://schemas.microsoft.com/office/powerpoint/2010/main" val="77239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A0A6-0030-02A7-ADEE-9BA6004A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5;p15" descr="image.png">
            <a:extLst>
              <a:ext uri="{FF2B5EF4-FFF2-40B4-BE49-F238E27FC236}">
                <a16:creationId xmlns:a16="http://schemas.microsoft.com/office/drawing/2014/main" id="{D2150ADD-95F7-772D-74DA-B0EE1C9CBF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กล่องข้อความ 6">
                <a:extLst>
                  <a:ext uri="{FF2B5EF4-FFF2-40B4-BE49-F238E27FC236}">
                    <a16:creationId xmlns:a16="http://schemas.microsoft.com/office/drawing/2014/main" id="{F7DA4D4C-18A2-6DE0-A7AB-61240AEDC556}"/>
                  </a:ext>
                </a:extLst>
              </p:cNvPr>
              <p:cNvSpPr txBox="1"/>
              <p:nvPr/>
            </p:nvSpPr>
            <p:spPr>
              <a:xfrm>
                <a:off x="252413" y="434637"/>
                <a:ext cx="11396662" cy="62703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49960"/>
                  </a:lnSpc>
                </a:pPr>
                <a:r>
                  <a:rPr lang="th-TH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ขั้นตอนการพังทลายของระบบเมื่อโดนสิ่งคุกคามปะทะ</a:t>
                </a:r>
                <a:endParaRPr lang="en-US" sz="2400" dirty="0">
                  <a:solidFill>
                    <a:srgbClr val="1E1B4B"/>
                  </a:solidFill>
                  <a:latin typeface="Sarabun Medium"/>
                  <a:cs typeface="Sarabun Medium"/>
                </a:endParaRPr>
              </a:p>
              <a:p>
                <a:pPr>
                  <a:lnSpc>
                    <a:spcPct val="149960"/>
                  </a:lnSpc>
                </a:pP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1. </a:t>
                </a:r>
                <a:r>
                  <a:rPr lang="th-TH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การกรองล้มเหลว (</a:t>
                </a: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Filter Bypass):</a:t>
                </a:r>
              </a:p>
              <a:p>
                <a:pPr>
                  <a:lnSpc>
                    <a:spcPct val="149960"/>
                  </a:lnSpc>
                </a:pP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	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ฝุ่นละอองขนาดใหญ่จะถูกดักจับไว้ที่ขนจมูกและท่อลม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Trachea / Bronchi)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แต่หากเป็นก๊าซพิษ สารระเหย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VOCs)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หรือฝุ่นละเอียดขนาดเล็กกว่า 2.5 ไมครอน สิ่งคุกคามเหล่านี้จะไหลผ่านท่อลมลงสู่ถุงลมปอด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Alveoli)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ส่วนปลายสุดได้ทันทีโดยไม่มีอะไรกั้น</a:t>
                </a:r>
                <a:endParaRPr lang="en-US" sz="1800" dirty="0">
                  <a:solidFill>
                    <a:srgbClr val="1E1B4B"/>
                  </a:solidFill>
                  <a:latin typeface="Sarabun Medium"/>
                  <a:cs typeface="Sarabun Medium"/>
                </a:endParaRPr>
              </a:p>
              <a:p>
                <a:pPr>
                  <a:lnSpc>
                    <a:spcPct val="149960"/>
                  </a:lnSpc>
                </a:pP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2. </a:t>
                </a:r>
                <a:r>
                  <a:rPr lang="th-TH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การแพร่กระจายผ่านผนังบาง (</a:t>
                </a: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Alveolar-Capillary Membrane Penetration)</a:t>
                </a:r>
              </a:p>
              <a:p>
                <a:pPr>
                  <a:lnSpc>
                    <a:spcPct val="149960"/>
                  </a:lnSpc>
                </a:pP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	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ผนังถุงลม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Alveolar Wall)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และผนังหลอดเลือดฝอย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Capillary Wall)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มีความหนารวมกันไม่ถึง 1 ไมครอน เพื่อให้ก๊าซออกซิเจนแพร่เข้าสู่เม็ดเลือดแดง (</a:t>
                </a: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Red Blood Cell) 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ได้ง่าย แต่</a:t>
                </a:r>
                <a:r>
                  <a:rPr lang="th-TH" sz="1800" dirty="0">
                    <a:solidFill>
                      <a:srgbClr val="FF0000"/>
                    </a:solidFill>
                    <a:latin typeface="Sarabun Medium"/>
                    <a:cs typeface="Sarabun Medium"/>
                  </a:rPr>
                  <a:t>ช่องโหว่นี้ทำให้ก๊าซพิษ (เช่น คาร์บอนมอนอกไซด์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arabun Medium"/>
                      </a:rPr>
                      <m:t>𝐶𝑂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Sarabun Medium"/>
                    <a:cs typeface="Sarabun Medium"/>
                  </a:rPr>
                  <a:t>) </a:t>
                </a:r>
                <a:r>
                  <a:rPr lang="th-TH" sz="1800" dirty="0">
                    <a:solidFill>
                      <a:srgbClr val="FF0000"/>
                    </a:solidFill>
                    <a:latin typeface="Sarabun Medium"/>
                    <a:cs typeface="Sarabun Medium"/>
                  </a:rPr>
                  <a:t>หรือสารเคมีระเหย สามารถแพร่ผ่านเยื่อบุนี้เข้าสู่กระแสเลือดได้ในเศษเสี้ยววินาที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เช่นกัน</a:t>
                </a:r>
                <a:endParaRPr lang="en-US" sz="1800" dirty="0">
                  <a:solidFill>
                    <a:srgbClr val="1E1B4B"/>
                  </a:solidFill>
                  <a:latin typeface="Sarabun Medium"/>
                  <a:cs typeface="Sarabun Medium"/>
                </a:endParaRPr>
              </a:p>
              <a:p>
                <a:pPr>
                  <a:lnSpc>
                    <a:spcPct val="149960"/>
                  </a:lnSpc>
                </a:pP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3. </a:t>
                </a:r>
                <a:r>
                  <a:rPr lang="th-TH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ระบบล่มทั่วร่างกาย (</a:t>
                </a:r>
                <a:r>
                  <a:rPr lang="en-US" sz="24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Systemic Crash)</a:t>
                </a:r>
              </a:p>
              <a:p>
                <a:pPr>
                  <a:lnSpc>
                    <a:spcPct val="149960"/>
                  </a:lnSpc>
                </a:pPr>
                <a:r>
                  <a:rPr lang="en-US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	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เมื่อสารเคมีซึมเข้าสู่หลอดเลือดฝอยในปอดแล้ว มันจะถูกส่งตรงกลับเข้าสู่หัวใจและสูบฉีดไปเลี้ยงอวัยวะสำคัญทั่วร่างกายทันที (โดยเฉพาะสมองและระบบประสาทส่วนกลาง) ทำให้เกิดอาการเวียนศีรษะ หมดสติ หรือระบบทางเดินหายใจล้มเหลวเฉียบพลัน โดย</a:t>
                </a:r>
                <a:r>
                  <a:rPr lang="th-TH" sz="1800" dirty="0">
                    <a:solidFill>
                      <a:srgbClr val="FF0000"/>
                    </a:solidFill>
                    <a:latin typeface="Sarabun Medium"/>
                    <a:cs typeface="Sarabun Medium"/>
                  </a:rPr>
                  <a:t>ไม่ต้องผ่านกระบวนการคัดกรองหรือทำลายพิษที่ตับ</a:t>
                </a:r>
                <a:r>
                  <a:rPr lang="th-TH" sz="1800" dirty="0">
                    <a:solidFill>
                      <a:srgbClr val="1E1B4B"/>
                    </a:solidFill>
                    <a:latin typeface="Sarabun Medium"/>
                    <a:cs typeface="Sarabun Medium"/>
                  </a:rPr>
                  <a:t>เหมือนกับการกลืนกิน</a:t>
                </a:r>
              </a:p>
            </p:txBody>
          </p:sp>
        </mc:Choice>
        <mc:Fallback xmlns="">
          <p:sp>
            <p:nvSpPr>
              <p:cNvPr id="7" name="กล่องข้อความ 6">
                <a:extLst>
                  <a:ext uri="{FF2B5EF4-FFF2-40B4-BE49-F238E27FC236}">
                    <a16:creationId xmlns:a16="http://schemas.microsoft.com/office/drawing/2014/main" id="{F7DA4D4C-18A2-6DE0-A7AB-61240AED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13" y="434637"/>
                <a:ext cx="11396662" cy="6270371"/>
              </a:xfrm>
              <a:prstGeom prst="rect">
                <a:avLst/>
              </a:prstGeom>
              <a:blipFill>
                <a:blip r:embed="rId3"/>
                <a:stretch>
                  <a:fillRect l="-802" r="-214" b="-583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62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6" y="1182150"/>
            <a:ext cx="2862262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328611" y="1572675"/>
            <a:ext cx="2662237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 dirty="0">
                <a:solidFill>
                  <a:srgbClr val="FF6B6B"/>
                </a:solidFill>
                <a:latin typeface="Comfortaa"/>
                <a:ea typeface="Comfortaa"/>
                <a:cs typeface="Comfortaa"/>
                <a:sym typeface="Comfortaa"/>
              </a:rPr>
              <a:t>2.5</a:t>
            </a:r>
            <a:endParaRPr dirty="0"/>
          </a:p>
        </p:txBody>
      </p:sp>
      <p:sp>
        <p:nvSpPr>
          <p:cNvPr id="233" name="Google Shape;233;p17"/>
          <p:cNvSpPr txBox="1"/>
          <p:nvPr/>
        </p:nvSpPr>
        <p:spPr>
          <a:xfrm>
            <a:off x="328611" y="2763300"/>
            <a:ext cx="25003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1E1B4B"/>
                </a:solidFill>
                <a:latin typeface="Prompt"/>
                <a:ea typeface="Prompt"/>
                <a:cs typeface="Prompt"/>
                <a:sym typeface="Prompt"/>
              </a:rPr>
              <a:t>ไมโครเมตร</a:t>
            </a:r>
            <a:r>
              <a:rPr lang="en-US" sz="1650" b="0" i="0" u="none" strike="noStrike" cap="none" dirty="0">
                <a:solidFill>
                  <a:srgbClr val="1E1B4B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1650" b="0" i="0" u="none" strike="noStrike" cap="none" dirty="0" err="1">
                <a:solidFill>
                  <a:srgbClr val="1E1B4B"/>
                </a:solidFill>
                <a:latin typeface="Prompt"/>
                <a:ea typeface="Prompt"/>
                <a:cs typeface="Prompt"/>
                <a:sym typeface="Prompt"/>
              </a:rPr>
              <a:t>หรือเล็กกว่านั้น</a:t>
            </a:r>
            <a:endParaRPr dirty="0"/>
          </a:p>
        </p:txBody>
      </p:sp>
      <p:sp>
        <p:nvSpPr>
          <p:cNvPr id="234" name="Google Shape;234;p17"/>
          <p:cNvSpPr txBox="1"/>
          <p:nvPr/>
        </p:nvSpPr>
        <p:spPr>
          <a:xfrm>
            <a:off x="3638548" y="1453716"/>
            <a:ext cx="68199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กลไกการเกิดพังผืด</a:t>
            </a:r>
            <a:r>
              <a:rPr lang="en-US" sz="2800" b="0" i="0" u="none" strike="noStrike" cap="none" dirty="0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 (Fibrosis) </a:t>
            </a:r>
            <a:r>
              <a:rPr lang="en-US" sz="2800" b="0" i="0" u="none" strike="noStrike" cap="none" dirty="0" err="1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ในถุงลม</a:t>
            </a:r>
            <a:endParaRPr sz="2000" dirty="0"/>
          </a:p>
        </p:txBody>
      </p:sp>
      <p:sp>
        <p:nvSpPr>
          <p:cNvPr id="236" name="Google Shape;236;p17"/>
          <p:cNvSpPr txBox="1"/>
          <p:nvPr/>
        </p:nvSpPr>
        <p:spPr>
          <a:xfrm>
            <a:off x="3190873" y="2054141"/>
            <a:ext cx="835342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การเล็ดลอดด่านแรก</a:t>
            </a:r>
            <a:r>
              <a:rPr lang="th-TH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ฝุ่นละเอียดขนาดต่ำกว่า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2.5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ไมโครเมตร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สามารถผ่านขนจมูกและเยื่อเมือกหลอดลมซึ่งดักจับได้เฉพาะฝุ่นขนาดใหญ่</a:t>
            </a:r>
            <a:endParaRPr sz="2400"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3190873" y="2967335"/>
            <a:ext cx="84201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บุกเข้าถุงลม</a:t>
            </a:r>
            <a:r>
              <a:rPr lang="en-US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(Alveoli)</a:t>
            </a:r>
            <a:r>
              <a:rPr lang="th-TH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ฝุ่นจิ๋วแทรกตัวเข้าลึกที่สุดของระบบหายใจ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ไปสะสมที่ถุงลมแลกเปลี่ยนก๊าซ</a:t>
            </a:r>
            <a:endParaRPr sz="2400" dirty="0"/>
          </a:p>
        </p:txBody>
      </p:sp>
      <p:sp>
        <p:nvSpPr>
          <p:cNvPr id="238" name="Google Shape;238;p17"/>
          <p:cNvSpPr txBox="1"/>
          <p:nvPr/>
        </p:nvSpPr>
        <p:spPr>
          <a:xfrm>
            <a:off x="3190873" y="3890665"/>
            <a:ext cx="67437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การทำงานของเม็ดเลือดขาว</a:t>
            </a:r>
            <a:r>
              <a:rPr lang="en-US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เม็ดเลือดขาวพยายามเข้ามากลืนกินฝุ่น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แต่ไม่สามารถย่อยสลายฝุ่นอนินทรีย์เหล่านี้ได้</a:t>
            </a:r>
            <a:endParaRPr sz="2400" dirty="0"/>
          </a:p>
        </p:txBody>
      </p:sp>
      <p:sp>
        <p:nvSpPr>
          <p:cNvPr id="239" name="Google Shape;239;p17"/>
          <p:cNvSpPr txBox="1"/>
          <p:nvPr/>
        </p:nvSpPr>
        <p:spPr>
          <a:xfrm>
            <a:off x="3190872" y="4906425"/>
            <a:ext cx="854392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เกิดการอักเสบเรื้อรัง</a:t>
            </a:r>
            <a:r>
              <a:rPr lang="en-US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การพยายามทำลายฝุ่นที่ล้มเหลวสร้างแผลถาวร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ร่างกายซ่อมแซมด้วยการสร้างคอลลาเจนทับถม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เกิดเป็น</a:t>
            </a:r>
            <a:r>
              <a:rPr lang="en-US" sz="2000" b="0" i="0" u="none" strike="noStrike" cap="none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พังผืด</a:t>
            </a:r>
            <a:r>
              <a:rPr lang="en-US" sz="2000" b="0" i="0" u="none" strike="noStrike" cap="none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(Fibrosis)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ทำให้ถุงลมสูญเสียความยืดหยุ่น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แลกเปลี่ยนออกซิเจนไม่ได้ถาวร</a:t>
            </a:r>
            <a:endParaRPr sz="2400" dirty="0"/>
          </a:p>
        </p:txBody>
      </p:sp>
      <p:sp>
        <p:nvSpPr>
          <p:cNvPr id="240" name="Google Shape;240;p17"/>
          <p:cNvSpPr txBox="1"/>
          <p:nvPr/>
        </p:nvSpPr>
        <p:spPr>
          <a:xfrm>
            <a:off x="714375" y="439936"/>
            <a:ext cx="114514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อันตรายจากฝุ่นละเอียดลักลอบเข้าปอด</a:t>
            </a:r>
            <a:endParaRPr sz="4000" b="1" dirty="0">
              <a:solidFill>
                <a:srgbClr val="1E1B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3877-6F7C-3236-DE34-8F510377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45;p15" descr="image.png">
            <a:extLst>
              <a:ext uri="{FF2B5EF4-FFF2-40B4-BE49-F238E27FC236}">
                <a16:creationId xmlns:a16="http://schemas.microsoft.com/office/drawing/2014/main" id="{8896EC02-8B56-C65A-0A96-5EA42D6B7E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DCC860A8-2FFA-ADA0-07B5-E6BB6B70636F}"/>
              </a:ext>
            </a:extLst>
          </p:cNvPr>
          <p:cNvSpPr txBox="1"/>
          <p:nvPr/>
        </p:nvSpPr>
        <p:spPr>
          <a:xfrm>
            <a:off x="195263" y="245417"/>
            <a:ext cx="6519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การซึมผ่านผิวหนัง</a:t>
            </a:r>
            <a:r>
              <a:rPr lang="en-US" sz="3600" dirty="0">
                <a:solidFill>
                  <a:srgbClr val="1E1B4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(Absorption)</a:t>
            </a:r>
            <a:endParaRPr lang="th-TH" sz="2000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596740B2-72C2-8114-29BB-27F40A867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9" y="1137165"/>
            <a:ext cx="9801225" cy="534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2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49E5-1B02-831F-7F6D-24CA9CFE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5;p15" descr="image.png">
            <a:extLst>
              <a:ext uri="{FF2B5EF4-FFF2-40B4-BE49-F238E27FC236}">
                <a16:creationId xmlns:a16="http://schemas.microsoft.com/office/drawing/2014/main" id="{B00D841F-989D-80E6-9091-F53C92C1A3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B858433F-1D78-ED7C-4863-B43699D22CCC}"/>
              </a:ext>
            </a:extLst>
          </p:cNvPr>
          <p:cNvSpPr txBox="1"/>
          <p:nvPr/>
        </p:nvSpPr>
        <p:spPr>
          <a:xfrm>
            <a:off x="252413" y="434637"/>
            <a:ext cx="11396662" cy="530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9960"/>
              </a:lnSpc>
            </a:pP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ขั้นตอนการพังทลายของระบบผิวหนังเมื่อโดนสิ่งคุกคามปะทะ</a:t>
            </a:r>
            <a:endParaRPr lang="en-US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pPr>
              <a:lnSpc>
                <a:spcPct val="149960"/>
              </a:lnSpc>
            </a:pPr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</a:rPr>
              <a:t>1. 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การชะล้างเกราะไขมัน 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Lipid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Layer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Dissolution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  <a:endParaRPr lang="en-US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pPr>
              <a:lnSpc>
                <a:spcPct val="149960"/>
              </a:lnSpc>
            </a:pP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  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ผิวหนังชั้นนอกสุด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Stratum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Corneum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มีองค์ประกอบของไขมันที่ช่วยกักเก็บความชุ่มชื้นและกันสิ่งแปลกปลอม แต่สารทำละลายอินทรีย์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Organic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Solvents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เช่น ไอโซโพรพิลแอลกอฮอล์ (IPA), ทินเนอร์, หรือสารล้างบอร์ด มีคุณสมบัติละลายไขมันได้ดีเยี่ยม เมื่อพนักงานใช้มือเปล่าสัมผัส สารเหล่านี้จะเข้าไปชะล้างเกราะไขมันธรรมชาติจนผิวแห้ง</a:t>
            </a:r>
            <a:endParaRPr lang="en-US" sz="18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pPr>
              <a:lnSpc>
                <a:spcPct val="149960"/>
              </a:lnSpc>
            </a:pPr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</a:rPr>
              <a:t>2. 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การ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Bypass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ผ่านรู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ขุมขน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และรอยบาดเจ็บ 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Hair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Follicles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&amp; Micro-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cuts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Route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  <a:endParaRPr lang="en-US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สารเคมีเหลวจะซึมเข้าสู่ร่างกายผ่าน 2 ช่องทางหลัก</a:t>
            </a:r>
            <a:endParaRPr lang="th-TH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 1.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รู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ขุมขน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และต่อมเหงื่อ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Hair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Follicles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&amp;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Sweat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Glands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เป็นท่อเชื่อมตรงลึกลงไปสู่ผิวชั้นใน ซึ่งสารเคมีขนาดโมเลกุลเล็กสามารถไหลลัด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Bypass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เข้าไปได้ง่าย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2.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รอยถลอกหรือแผลขนาดเล็ก (Micro-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cuts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ในงานประกอบฮาร์ดแวร์ ขาอุปกรณ์อิเล็กทรอนิกส์หรือลวดที่บาดมือเล็ก ๆ น้อย ๆ (ที่บางทีเราไม่ทันสังเกต) จะกลายเป็นช่องโหว่แบบเปิดรับสารพิษวิ่งตรงเข้าสู่ร่างกายทันที</a:t>
            </a:r>
          </a:p>
          <a:p>
            <a:pPr>
              <a:lnSpc>
                <a:spcPct val="149960"/>
              </a:lnSpc>
            </a:pPr>
            <a:endParaRPr lang="th-TH" sz="18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6492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82DB-A6FF-3FBA-B8FE-B1DFABED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5;p15" descr="image.png">
            <a:extLst>
              <a:ext uri="{FF2B5EF4-FFF2-40B4-BE49-F238E27FC236}">
                <a16:creationId xmlns:a16="http://schemas.microsoft.com/office/drawing/2014/main" id="{A9DDF817-F69C-5DD6-7EDC-6F2CAED006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5C8D1055-4C37-9A66-ABFB-36B78A452019}"/>
              </a:ext>
            </a:extLst>
          </p:cNvPr>
          <p:cNvSpPr txBox="1"/>
          <p:nvPr/>
        </p:nvSpPr>
        <p:spPr>
          <a:xfrm>
            <a:off x="252413" y="434637"/>
            <a:ext cx="11396662" cy="3269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9960"/>
              </a:lnSpc>
            </a:pP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ขั้นตอนการพังทลายของระบบผิวหนังเมื่อโดนสิ่งคุกคามปะทะ</a:t>
            </a:r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</a:rPr>
              <a:t> (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ต่อ)</a:t>
            </a:r>
            <a:endParaRPr lang="en-US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endParaRPr lang="en-US" sz="24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3. การดูดซึมเข้าสู่ระบบไหลเวียนโลหิต 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Systemic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Absorption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</a:p>
          <a:p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เมื่อสารทำละลายซึมผ่านผิวหนังชั้นนอกลงมาถึง ชั้นหนังแท้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Dermis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ซึ่งเป็นบริเวณที่อุดมไปด้วยหลอดเลือดฝอย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Capillaries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สารเคมีเหล่านั้นจะซึมผ่านผนังหลอดเลือดเข้าสู่กระแสเลือดโดยตรง และวิ่งไปทำลายระบบประสาทส่วนกลาง ตับ และไต ส่งผลให้เกิดอาการมึนงง เวียนศีรษะ หรือพิษสะสมระยะยาว</a:t>
            </a:r>
          </a:p>
          <a:p>
            <a:pPr>
              <a:lnSpc>
                <a:spcPct val="149960"/>
              </a:lnSpc>
            </a:pPr>
            <a:endParaRPr lang="th-TH" sz="18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0911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DF53-5E9D-7B54-FF8B-883F2079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45;p15" descr="image.png">
            <a:extLst>
              <a:ext uri="{FF2B5EF4-FFF2-40B4-BE49-F238E27FC236}">
                <a16:creationId xmlns:a16="http://schemas.microsoft.com/office/drawing/2014/main" id="{59E16558-5583-F0B0-7CB9-24E9B1947A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7C02D13A-FEF3-B2FF-407D-D065DD5C882B}"/>
              </a:ext>
            </a:extLst>
          </p:cNvPr>
          <p:cNvSpPr txBox="1"/>
          <p:nvPr/>
        </p:nvSpPr>
        <p:spPr>
          <a:xfrm>
            <a:off x="195263" y="245417"/>
            <a:ext cx="6519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h-TH" sz="36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การกลืนกิน (</a:t>
            </a:r>
            <a:r>
              <a:rPr lang="en-US" sz="36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Ingestion)</a:t>
            </a:r>
            <a:endParaRPr lang="th-TH" sz="36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40690E22-926D-55ED-EF69-819BD4D00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194019"/>
            <a:ext cx="9829800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0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73EA-CBC3-FEF7-7B42-1D11CF03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5;p15" descr="image.png">
            <a:extLst>
              <a:ext uri="{FF2B5EF4-FFF2-40B4-BE49-F238E27FC236}">
                <a16:creationId xmlns:a16="http://schemas.microsoft.com/office/drawing/2014/main" id="{E41F54C1-4C0C-8844-1DE0-A93E1D3F2B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8F740AA-17B9-1C85-9526-9D62749A0189}"/>
              </a:ext>
            </a:extLst>
          </p:cNvPr>
          <p:cNvSpPr txBox="1"/>
          <p:nvPr/>
        </p:nvSpPr>
        <p:spPr>
          <a:xfrm>
            <a:off x="252413" y="434637"/>
            <a:ext cx="11396662" cy="5208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9960"/>
              </a:lnSpc>
            </a:pPr>
            <a:r>
              <a:rPr lang="th-TH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ตัวอย่างขั้นตอนการถล่มระบบทางเดินอาหารด้วยการกลืนกินสารปนเปื้อน</a:t>
            </a:r>
          </a:p>
          <a:p>
            <a:pPr marL="457200" indent="-457200">
              <a:lnSpc>
                <a:spcPct val="149960"/>
              </a:lnSpc>
              <a:buAutoNum type="arabicPeriod"/>
            </a:pP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การสะสมที่อุปกรณ์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Input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Keyboard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, Mouse &amp;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Hardware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</a:p>
          <a:p>
            <a:pPr>
              <a:lnSpc>
                <a:spcPct val="149960"/>
              </a:lnSpc>
            </a:pPr>
            <a:r>
              <a:rPr lang="en-US" sz="1800" dirty="0">
                <a:solidFill>
                  <a:srgbClr val="1E1B4B"/>
                </a:solidFill>
                <a:latin typeface="Sarabun Medium"/>
                <a:cs typeface="Sarabun Medium"/>
              </a:rPr>
              <a:t>    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เชื้อโรคหรือสารเคมี สะสมที่อุปกรณ์ต่างๆ ที่เราต้องใช้มือหยิบจับเป็นประจำ ฝุ่นเคมีที่เกาะอยู่ตามคีย์บอร์ดและเมาส์ สารเคมีเหล่านี้เป็นอนุภาคขนาดเล็กที่มองไม่เห็นด้วยตาเปล่า มันจะเกาะติดอยู่กับน้ำมันธรรมชาติบนปลายนิ้วมือของเราในลักษณะของคราบฟิล์มบาง ๆ  </a:t>
            </a:r>
            <a:endParaRPr lang="en-US" sz="1800" dirty="0">
              <a:solidFill>
                <a:srgbClr val="1E1B4B"/>
              </a:solidFill>
              <a:latin typeface="Sarabun Medium"/>
              <a:cs typeface="Sarabun Medium"/>
            </a:endParaRPr>
          </a:p>
          <a:p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</a:rPr>
              <a:t>2. 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กลไกม้าโทรจัน (The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Trojan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Horse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Route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</a:p>
          <a:p>
            <a:pPr>
              <a:lnSpc>
                <a:spcPct val="149960"/>
              </a:lnSpc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  เมื่อเราเอื้อมมือไปหยิบมันฝรั่งทอด ขนมปัง หรือจับขอบแก้วกาแฟ สารเคมีที่ติดอยู่บนนิ้วจะทำปฏิกิริยาย้ายฝั่ง (Transfer) ไปเกาะบนพื้นผิวของอาหารทันที และเมื่อเราส่งอาหารนั้นเข้าปาก ร่างกายจะต้อนรับมันในฐานะ "สารอาหาร" โดยไม่มีการคัดกรองที่ช่องปาก สารพิษจึง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Bypass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ผ่านระบบป้องกันภายนอกเข้าสู่ระบบทางเดินอาหาร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Gastrointestinal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Tract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ได้อย่างง่ายดาย</a:t>
            </a:r>
          </a:p>
          <a:p>
            <a:pPr>
              <a:lnSpc>
                <a:spcPct val="149960"/>
              </a:lnSpc>
            </a:pPr>
            <a:endParaRPr lang="th-TH" sz="18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08274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9B8E-CB71-DF5C-8F95-E0D3BFD5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5;p15" descr="image.png">
            <a:extLst>
              <a:ext uri="{FF2B5EF4-FFF2-40B4-BE49-F238E27FC236}">
                <a16:creationId xmlns:a16="http://schemas.microsoft.com/office/drawing/2014/main" id="{C6EAE24A-F2F6-BA2C-C477-BDA8E3B4BD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63FD131-DCDB-0FF1-995D-FC24AF02D7F5}"/>
              </a:ext>
            </a:extLst>
          </p:cNvPr>
          <p:cNvSpPr txBox="1"/>
          <p:nvPr/>
        </p:nvSpPr>
        <p:spPr>
          <a:xfrm>
            <a:off x="252413" y="434637"/>
            <a:ext cx="11396662" cy="3408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9960"/>
              </a:lnSpc>
            </a:pPr>
            <a:r>
              <a:rPr lang="th-TH" sz="4000" b="1" dirty="0">
                <a:solidFill>
                  <a:srgbClr val="1E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ตัวอย่างขั้นตอนการถล่มระบบทางเดินอาหารด้วยการกลืนกินสารปนเปื้อน (ต่อ)</a:t>
            </a:r>
          </a:p>
          <a:p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3</a:t>
            </a:r>
            <a:r>
              <a:rPr lang="en-US" sz="2400" dirty="0">
                <a:solidFill>
                  <a:srgbClr val="1E1B4B"/>
                </a:solidFill>
                <a:latin typeface="Sarabun Medium"/>
                <a:cs typeface="Sarabun Medium"/>
              </a:rPr>
              <a:t>. 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การดูดซึมและทำลายล้างระบบกรอง (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Absorption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&amp;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Liver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2400" dirty="0" err="1">
                <a:solidFill>
                  <a:srgbClr val="1E1B4B"/>
                </a:solidFill>
                <a:latin typeface="Sarabun Medium"/>
                <a:cs typeface="Sarabun Medium"/>
              </a:rPr>
              <a:t>Throttling</a:t>
            </a:r>
            <a:r>
              <a:rPr lang="th-TH" sz="2400" dirty="0">
                <a:solidFill>
                  <a:srgbClr val="1E1B4B"/>
                </a:solidFill>
                <a:latin typeface="Sarabun Medium"/>
                <a:cs typeface="Sarabun Medium"/>
              </a:rPr>
              <a:t>)</a:t>
            </a:r>
          </a:p>
          <a:p>
            <a:pPr>
              <a:lnSpc>
                <a:spcPct val="149960"/>
              </a:lnSpc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  เมื่อสารพิษเดินทางไปถึง กระเพาะอาหาร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Stomach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และลำไส้เล็ก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Small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Intestine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ร่างกายจะทำการดูดซึมสารเคมีเหล่านี้เข้าสู่กระแสเลือดผ่านเส้นเลือดฝอยจำนวนมหาศาล สารพิษทั้งหมดจะถูกส่งตรงไปยัง ตับ (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Liver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) ซึ่งเป็นอวัยวะหลักในการกรองสารพิษของร่างกาย หากเรามีพฤติกรรมเช่นนี้ทุกวัน ตับจะทำงานหนักจนเกิดภาวะ </a:t>
            </a:r>
            <a:r>
              <a:rPr lang="th-TH" sz="1800" dirty="0" err="1">
                <a:solidFill>
                  <a:srgbClr val="1E1B4B"/>
                </a:solidFill>
                <a:latin typeface="Sarabun Medium"/>
                <a:cs typeface="Sarabun Medium"/>
              </a:rPr>
              <a:t>Throttling</a:t>
            </a: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</a:rPr>
              <a:t> เซลล์ตับถูกทำลาย และอาจเกิดการสะสมของโลหะหนัก ในกระดูกและสมองในระยะยาว</a:t>
            </a:r>
          </a:p>
          <a:p>
            <a:pPr>
              <a:lnSpc>
                <a:spcPct val="149960"/>
              </a:lnSpc>
            </a:pPr>
            <a:endParaRPr lang="th-TH" sz="18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2314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1DAFA504-FD72-EA82-F489-9A4B7E7F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 descr="image.png">
            <a:extLst>
              <a:ext uri="{FF2B5EF4-FFF2-40B4-BE49-F238E27FC236}">
                <a16:creationId xmlns:a16="http://schemas.microsoft.com/office/drawing/2014/main" id="{18E90788-78E2-8F0B-2F4E-E5C96676EA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>
            <a:extLst>
              <a:ext uri="{FF2B5EF4-FFF2-40B4-BE49-F238E27FC236}">
                <a16:creationId xmlns:a16="http://schemas.microsoft.com/office/drawing/2014/main" id="{981DE1EB-DC70-DEAB-37BF-17704EF820DB}"/>
              </a:ext>
            </a:extLst>
          </p:cNvPr>
          <p:cNvSpPr txBox="1"/>
          <p:nvPr/>
        </p:nvSpPr>
        <p:spPr>
          <a:xfrm>
            <a:off x="714375" y="470713"/>
            <a:ext cx="114514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en-US" sz="3600" dirty="0" err="1">
                <a:solidFill>
                  <a:srgbClr val="1E1B4B"/>
                </a:solidFill>
                <a:latin typeface="Sarabun Medium"/>
                <a:cs typeface="Sarabun Medium"/>
                <a:sym typeface="Prompt"/>
              </a:rPr>
              <a:t>การคุกคามทางกายภาพ</a:t>
            </a:r>
            <a:r>
              <a:rPr lang="en-US" sz="3600" dirty="0">
                <a:solidFill>
                  <a:srgbClr val="1E1B4B"/>
                </a:solidFill>
                <a:latin typeface="Sarabun Medium"/>
                <a:cs typeface="Sarabun Medium"/>
                <a:sym typeface="Prompt"/>
              </a:rPr>
              <a:t>: </a:t>
            </a:r>
            <a:r>
              <a:rPr lang="en-US" sz="3600" dirty="0" err="1">
                <a:solidFill>
                  <a:srgbClr val="1E1B4B"/>
                </a:solidFill>
                <a:latin typeface="Sarabun Medium"/>
                <a:cs typeface="Sarabun Medium"/>
                <a:sym typeface="Prompt"/>
              </a:rPr>
              <a:t>หูชั้นใน</a:t>
            </a:r>
            <a:r>
              <a:rPr lang="en-US" sz="3600" dirty="0">
                <a:solidFill>
                  <a:srgbClr val="1E1B4B"/>
                </a:solidFill>
                <a:latin typeface="Sarabun Medium"/>
                <a:cs typeface="Sarabun Medium"/>
                <a:sym typeface="Prompt"/>
              </a:rPr>
              <a:t> </a:t>
            </a:r>
            <a:r>
              <a:rPr lang="en-US" sz="3600" dirty="0" err="1">
                <a:solidFill>
                  <a:srgbClr val="1E1B4B"/>
                </a:solidFill>
                <a:latin typeface="Sarabun Medium"/>
                <a:cs typeface="Sarabun Medium"/>
                <a:sym typeface="Prompt"/>
              </a:rPr>
              <a:t>และดวงตา</a:t>
            </a:r>
            <a:endParaRPr sz="3600" dirty="0">
              <a:solidFill>
                <a:srgbClr val="1E1B4B"/>
              </a:solidFill>
              <a:latin typeface="Sarabun Medium"/>
              <a:cs typeface="Sarabun Medium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06A252F-F5F9-478B-2630-89019DD79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208546"/>
            <a:ext cx="10020300" cy="54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84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714" y="1435893"/>
            <a:ext cx="11174185" cy="463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528636" y="1766650"/>
            <a:ext cx="109811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เสียง</a:t>
            </a:r>
            <a:r>
              <a:rPr lang="th-TH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ดังต่อเนื่อง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หรือเสียงดังกระแทกจะเดินทางผ่านกระดูกหูไปสั่นสะเทือนน้ำในหูชั้นใน (Cochlea)</a:t>
            </a:r>
            <a:endParaRPr sz="2800" dirty="0"/>
          </a:p>
        </p:txBody>
      </p:sp>
      <p:sp>
        <p:nvSpPr>
          <p:cNvPr id="199" name="Google Shape;199;p16"/>
          <p:cNvSpPr txBox="1"/>
          <p:nvPr/>
        </p:nvSpPr>
        <p:spPr>
          <a:xfrm>
            <a:off x="714374" y="2928404"/>
            <a:ext cx="61799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ทำไมเซลล์ขนรับเสียงแหลมถึงพังก่อน</a:t>
            </a:r>
            <a:r>
              <a:rPr lang="en-US" sz="24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?</a:t>
            </a:r>
            <a:endParaRPr sz="2800" dirty="0"/>
          </a:p>
        </p:txBody>
      </p:sp>
      <p:sp>
        <p:nvSpPr>
          <p:cNvPr id="200" name="Google Shape;200;p16"/>
          <p:cNvSpPr txBox="1"/>
          <p:nvPr/>
        </p:nvSpPr>
        <p:spPr>
          <a:xfrm>
            <a:off x="714375" y="4109683"/>
            <a:ext cx="104298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เนื่องจาก</a:t>
            </a:r>
            <a:r>
              <a:rPr lang="en-US" sz="2400" b="1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เซลล์ขนรับเสียงแหลม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(High-Frequency Hair Cells)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ตั้งอยู่ส่วนต้นขั้วของ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Cochlea ซึ่งเป็นด่านแรกที่ต้องรับคลื่นพลังงานความถี่สูงและกระแทกโดยตรงอยู่เสมอ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แรงกระแทกจึงทำลายเซลล์โซนนี้ถาวร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จนสูญเสียการได้ยินย่านเสียงสูงอย่างรวดเร็ว</a:t>
            </a:r>
            <a:endParaRPr sz="3200" dirty="0"/>
          </a:p>
        </p:txBody>
      </p:sp>
      <p:sp>
        <p:nvSpPr>
          <p:cNvPr id="207" name="Google Shape;207;p16"/>
          <p:cNvSpPr txBox="1"/>
          <p:nvPr/>
        </p:nvSpPr>
        <p:spPr>
          <a:xfrm>
            <a:off x="714375" y="409160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ea typeface="Prompt Medium"/>
                <a:cs typeface="TH Sarabun New" panose="020B0500040200020003" pitchFamily="34" charset="-34"/>
                <a:sym typeface="Prompt Medium"/>
              </a:rPr>
              <a:t>หูชั้นในกับแรงสั่นสะเทือน</a:t>
            </a:r>
            <a:endParaRPr lang="th-TH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E42E06BA-5CF2-1BED-4948-1B63AC9F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 descr="image.png">
            <a:extLst>
              <a:ext uri="{FF2B5EF4-FFF2-40B4-BE49-F238E27FC236}">
                <a16:creationId xmlns:a16="http://schemas.microsoft.com/office/drawing/2014/main" id="{25ADF2F1-940C-38F0-B4F1-5EFBA0559B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>
            <a:extLst>
              <a:ext uri="{FF2B5EF4-FFF2-40B4-BE49-F238E27FC236}">
                <a16:creationId xmlns:a16="http://schemas.microsoft.com/office/drawing/2014/main" id="{3B1C1E44-1F01-C574-1D21-F082432E82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89" y="1186696"/>
            <a:ext cx="11395711" cy="47378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6FF968AD-749B-2D31-E348-3172BCBF5738}"/>
              </a:ext>
            </a:extLst>
          </p:cNvPr>
          <p:cNvSpPr txBox="1"/>
          <p:nvPr/>
        </p:nvSpPr>
        <p:spPr>
          <a:xfrm>
            <a:off x="224789" y="357187"/>
            <a:ext cx="845248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ตัวอย่างอันตรายต่อ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ดวงตา</a:t>
            </a: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จาก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แสงไม่พอดี</a:t>
            </a: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 Medium"/>
              </a:rPr>
              <a:t> (Lux)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2" name="Google Shape;202;p16">
            <a:extLst>
              <a:ext uri="{FF2B5EF4-FFF2-40B4-BE49-F238E27FC236}">
                <a16:creationId xmlns:a16="http://schemas.microsoft.com/office/drawing/2014/main" id="{23777ED9-2D5D-5A14-64FD-FB2709FB56CA}"/>
              </a:ext>
            </a:extLst>
          </p:cNvPr>
          <p:cNvSpPr txBox="1"/>
          <p:nvPr/>
        </p:nvSpPr>
        <p:spPr>
          <a:xfrm>
            <a:off x="536256" y="1414103"/>
            <a:ext cx="10620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การจัดแสงสว่างที่ไม่เหมาะสมในการเขียนโค้ด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(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แสงสะท้อนบนจอ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หรือ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Lux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ต่ำกว่ามาตรฐาน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)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ทำให้ม่านตาต้องเบิกกว้าง</a:t>
            </a:r>
            <a:endParaRPr sz="2800" dirty="0"/>
          </a:p>
        </p:txBody>
      </p:sp>
      <p:sp>
        <p:nvSpPr>
          <p:cNvPr id="203" name="Google Shape;203;p16">
            <a:extLst>
              <a:ext uri="{FF2B5EF4-FFF2-40B4-BE49-F238E27FC236}">
                <a16:creationId xmlns:a16="http://schemas.microsoft.com/office/drawing/2014/main" id="{4A47355D-0C71-98EB-B210-4F9DD4795A7A}"/>
              </a:ext>
            </a:extLst>
          </p:cNvPr>
          <p:cNvSpPr txBox="1"/>
          <p:nvPr/>
        </p:nvSpPr>
        <p:spPr>
          <a:xfrm>
            <a:off x="514349" y="2809130"/>
            <a:ext cx="106203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FF8E7A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กลไกความล้าและอาการปวดหัว</a:t>
            </a:r>
            <a:r>
              <a:rPr lang="en-US" sz="2800" b="0" i="0" u="none" strike="noStrike" cap="none" dirty="0">
                <a:solidFill>
                  <a:srgbClr val="FF8E7A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:</a:t>
            </a:r>
            <a:endParaRPr sz="3200" dirty="0"/>
          </a:p>
        </p:txBody>
      </p:sp>
      <p:sp>
        <p:nvSpPr>
          <p:cNvPr id="204" name="Google Shape;204;p16">
            <a:extLst>
              <a:ext uri="{FF2B5EF4-FFF2-40B4-BE49-F238E27FC236}">
                <a16:creationId xmlns:a16="http://schemas.microsoft.com/office/drawing/2014/main" id="{5E913F53-DACF-8A35-7444-41288D130926}"/>
              </a:ext>
            </a:extLst>
          </p:cNvPr>
          <p:cNvSpPr txBox="1"/>
          <p:nvPr/>
        </p:nvSpPr>
        <p:spPr>
          <a:xfrm>
            <a:off x="514349" y="3557826"/>
            <a:ext cx="106203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กล้ามเนื้อตาเพ่งเกร็งเพื่อปรับโฟกัสเรตินาเป็นเวลานาน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ความตึงตัวของ</a:t>
            </a:r>
            <a:r>
              <a:rPr lang="en-US" sz="2400" b="1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กล้ามเนื้อยึดเลนส์ตา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(Ciliary Muscle)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ส่งสัญญาณความเจ็บปวดเชื่อมผ่านเส้นประสาท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Trigeminal </a:t>
            </a:r>
            <a:r>
              <a:rPr lang="en-US" sz="24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เหนี่ยวนำให้เกิดอาการกระบอกตาล้าลามไปเป็นอาการปวดหัวตุ๊บ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ๆ (Tension Headache)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839167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565" y="3759697"/>
            <a:ext cx="4886623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38150" y="1335740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กลไกคานดีดคานงัดของกระดูกสันหลัง</a:t>
            </a:r>
            <a:endParaRPr sz="1800"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438150" y="1771353"/>
            <a:ext cx="74199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กระดูกสันหลังส่วนล่างทำหน้าที่เสมือนจุดหมุนของคานงัดระดับที่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1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เมื่อเราก้มตัวยกของหนัก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แผ่นหลังและกล้ามเนื้อพยุงหลังส่วนล่างต้องทำงานอย่างหนักเพื่อเอาชนะโมเมนต์ของน้ำหนักวัตถุที่ห่างจากตัว</a:t>
            </a:r>
            <a:endParaRPr sz="2400"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549919" y="3207096"/>
            <a:ext cx="66414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สูตรการรับแรงกดลัพธ์ที่หมอนรองกระดูกสันหลังข้อ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L4/L5:</a:t>
            </a:r>
            <a:endParaRPr sz="2400"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571500" y="4644032"/>
            <a:ext cx="7143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*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การก้มยกของหลังโก่งทำให้ค่า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d_load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เพิ่มขึ้น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แรงกดกระแทก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L4/L5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ทะลุจุดพิกัดทันที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ทำให้หมอนรองกระดูกปลิ้นหรือเสื่อมถาวร</a:t>
            </a:r>
            <a:endParaRPr sz="2400" dirty="0"/>
          </a:p>
        </p:txBody>
      </p:sp>
      <p:grpSp>
        <p:nvGrpSpPr>
          <p:cNvPr id="2" name="กลุ่ม 1">
            <a:extLst>
              <a:ext uri="{FF2B5EF4-FFF2-40B4-BE49-F238E27FC236}">
                <a16:creationId xmlns:a16="http://schemas.microsoft.com/office/drawing/2014/main" id="{592EAED4-B573-ACB0-FFD0-2DFB32338AAD}"/>
              </a:ext>
            </a:extLst>
          </p:cNvPr>
          <p:cNvGrpSpPr/>
          <p:nvPr/>
        </p:nvGrpSpPr>
        <p:grpSpPr>
          <a:xfrm>
            <a:off x="8248650" y="3177599"/>
            <a:ext cx="3600450" cy="2615208"/>
            <a:chOff x="6286500" y="2057400"/>
            <a:chExt cx="5334000" cy="3619500"/>
          </a:xfrm>
        </p:grpSpPr>
        <p:pic>
          <p:nvPicPr>
            <p:cNvPr id="247" name="Google Shape;247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86500" y="2057400"/>
              <a:ext cx="5334000" cy="361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391275" y="2162175"/>
              <a:ext cx="5124450" cy="34099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5698" y="3847057"/>
            <a:ext cx="4445603" cy="50319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The Ergonomic Breakdown: 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กลศาสตร์</a:t>
            </a: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 L4/L5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4">
            <a:alphaModFix/>
          </a:blip>
          <a:srcRect l="8534" t="14575" r="8448" b="16296"/>
          <a:stretch>
            <a:fillRect/>
          </a:stretch>
        </p:blipFill>
        <p:spPr>
          <a:xfrm>
            <a:off x="504825" y="1409700"/>
            <a:ext cx="11559954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The Ghost Hazard: 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ความเครียดและชีววิทยาภายใน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57637"/>
            <a:ext cx="2541240" cy="191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1781175"/>
            <a:ext cx="2541240" cy="17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3957637"/>
            <a:ext cx="2541240" cy="191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9259" y="1698039"/>
            <a:ext cx="2541240" cy="191193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/>
          <p:nvPr/>
        </p:nvSpPr>
        <p:spPr>
          <a:xfrm>
            <a:off x="571500" y="38481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667988" y="4110037"/>
            <a:ext cx="23482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1. ความเครียดสะสม</a:t>
            </a:r>
            <a:endParaRPr sz="2000"/>
          </a:p>
        </p:txBody>
      </p:sp>
      <p:sp>
        <p:nvSpPr>
          <p:cNvPr id="359" name="Google Shape;359;p21"/>
          <p:cNvSpPr txBox="1"/>
          <p:nvPr/>
        </p:nvSpPr>
        <p:spPr>
          <a:xfrm>
            <a:off x="723900" y="4452937"/>
            <a:ext cx="223644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ปริมาณ</a:t>
            </a:r>
            <a:r>
              <a:rPr lang="en-US" b="0" i="0" u="none" strike="noStrike" cap="none" dirty="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 Cortisol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ในเลือดสูงเป็นระยะเวลานาน</a:t>
            </a:r>
            <a:r>
              <a:rPr lang="en-US" b="0" i="0" u="none" strike="noStrike" cap="none" dirty="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รบกวนการนอนหลับและการพักผ่อนของสมอง</a:t>
            </a:r>
            <a:endParaRPr sz="2000" dirty="0"/>
          </a:p>
        </p:txBody>
      </p:sp>
      <p:sp>
        <p:nvSpPr>
          <p:cNvPr id="360" name="Google Shape;360;p21"/>
          <p:cNvSpPr txBox="1"/>
          <p:nvPr/>
        </p:nvSpPr>
        <p:spPr>
          <a:xfrm>
            <a:off x="3503908" y="1914851"/>
            <a:ext cx="23482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2.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เกิดภาวะ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 Burnout</a:t>
            </a:r>
            <a:endParaRPr sz="2000" dirty="0"/>
          </a:p>
        </p:txBody>
      </p:sp>
      <p:sp>
        <p:nvSpPr>
          <p:cNvPr id="361" name="Google Shape;361;p21"/>
          <p:cNvSpPr txBox="1"/>
          <p:nvPr/>
        </p:nvSpPr>
        <p:spPr>
          <a:xfrm>
            <a:off x="3559819" y="2198250"/>
            <a:ext cx="223644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ความเหนื่อยล้าทางอารมณ์และจิตใจขั้นวิกฤต</a:t>
            </a:r>
            <a:r>
              <a:rPr lang="en-US" b="0" i="0" u="none" strike="noStrike" cap="none" dirty="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ส่งผลให้ความจำระยะสั้นและสมาธิลดลงอย่างชัดเจน</a:t>
            </a:r>
            <a:endParaRPr sz="2000" dirty="0"/>
          </a:p>
        </p:txBody>
      </p:sp>
      <p:sp>
        <p:nvSpPr>
          <p:cNvPr id="362" name="Google Shape;362;p21"/>
          <p:cNvSpPr txBox="1"/>
          <p:nvPr/>
        </p:nvSpPr>
        <p:spPr>
          <a:xfrm>
            <a:off x="6339828" y="4110037"/>
            <a:ext cx="23482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3. สมองล้าเกร็ง</a:t>
            </a:r>
            <a:endParaRPr sz="2000"/>
          </a:p>
        </p:txBody>
      </p:sp>
      <p:sp>
        <p:nvSpPr>
          <p:cNvPr id="363" name="Google Shape;363;p21"/>
          <p:cNvSpPr txBox="1"/>
          <p:nvPr/>
        </p:nvSpPr>
        <p:spPr>
          <a:xfrm>
            <a:off x="6395739" y="4452937"/>
            <a:ext cx="223644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Prefrontal Cortex (สมองส่วนหน้าควบคุมการตัดสินใจ) ทำงานด้อยประสิทธิภาพลง ตัดสินใจผิดพลาดง่าย</a:t>
            </a:r>
            <a:endParaRPr sz="2000"/>
          </a:p>
        </p:txBody>
      </p:sp>
      <p:sp>
        <p:nvSpPr>
          <p:cNvPr id="364" name="Google Shape;364;p21"/>
          <p:cNvSpPr txBox="1"/>
          <p:nvPr/>
        </p:nvSpPr>
        <p:spPr>
          <a:xfrm>
            <a:off x="9175748" y="1850439"/>
            <a:ext cx="23482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4. </a:t>
            </a:r>
            <a:r>
              <a:rPr lang="en-US" sz="1800" b="0" i="0" u="none" strike="noStrike" cap="none" dirty="0" err="1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เกิด</a:t>
            </a:r>
            <a:r>
              <a:rPr lang="en-US" sz="1800" b="0" i="0" u="none" strike="noStrike" cap="none" dirty="0">
                <a:solidFill>
                  <a:srgbClr val="FF6B6B"/>
                </a:solidFill>
                <a:latin typeface="Prompt Medium"/>
                <a:ea typeface="Prompt Medium"/>
                <a:cs typeface="Prompt Medium"/>
                <a:sym typeface="Prompt Medium"/>
              </a:rPr>
              <a:t> Unsafe Act</a:t>
            </a:r>
            <a:endParaRPr sz="2000" dirty="0"/>
          </a:p>
        </p:txBody>
      </p:sp>
      <p:sp>
        <p:nvSpPr>
          <p:cNvPr id="365" name="Google Shape;365;p21"/>
          <p:cNvSpPr txBox="1"/>
          <p:nvPr/>
        </p:nvSpPr>
        <p:spPr>
          <a:xfrm>
            <a:off x="9231659" y="2222375"/>
            <a:ext cx="223644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เผลอละเลยกฎความปลอดภัย</a:t>
            </a:r>
            <a:r>
              <a:rPr lang="en-US" b="0" i="0" u="none" strike="noStrike" cap="none" dirty="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ไม่ใส่ใจสิ่งแวดล้อมรอบตัว</a:t>
            </a:r>
            <a:r>
              <a:rPr lang="en-US" b="0" i="0" u="none" strike="noStrike" cap="none" dirty="0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b="0" i="0" u="none" strike="noStrike" cap="none" dirty="0" err="1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นำไปสู่การเกิดอุบัติเหตุร้ายแรงในที่สุด</a:t>
            </a:r>
            <a:endParaRPr sz="2000" dirty="0"/>
          </a:p>
        </p:txBody>
      </p:sp>
      <p:sp>
        <p:nvSpPr>
          <p:cNvPr id="366" name="Google Shape;366;p21"/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ผลกระทบลูกโซ่</a:t>
            </a: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: 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จากความเครียดสะสมสู่</a:t>
            </a: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 Unsafe Act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746870" y="3771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4582790" y="3771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7418709" y="3771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10254629" y="3771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190EEFC8-448A-3DC7-C19B-1837745E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1" descr="image.png">
            <a:extLst>
              <a:ext uri="{FF2B5EF4-FFF2-40B4-BE49-F238E27FC236}">
                <a16:creationId xmlns:a16="http://schemas.microsoft.com/office/drawing/2014/main" id="{A2022368-054D-D274-0ED2-11DF333336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1">
            <a:extLst>
              <a:ext uri="{FF2B5EF4-FFF2-40B4-BE49-F238E27FC236}">
                <a16:creationId xmlns:a16="http://schemas.microsoft.com/office/drawing/2014/main" id="{B4AA42F2-C56F-DF9F-2132-509CB2652135}"/>
              </a:ext>
            </a:extLst>
          </p:cNvPr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Cortisol </a:t>
            </a: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คืออะไร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5844A7A-1271-7363-62F0-6880738CAD00}"/>
              </a:ext>
            </a:extLst>
          </p:cNvPr>
          <p:cNvSpPr txBox="1"/>
          <p:nvPr/>
        </p:nvSpPr>
        <p:spPr>
          <a:xfrm>
            <a:off x="502443" y="1233814"/>
            <a:ext cx="10784681" cy="112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Cortisol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คือ "ฮอร์โมนแห่งความเครียด" (</a:t>
            </a: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Stress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</a:t>
            </a: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Hormone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) โดยปกติ มันคือระบบสัญญาณเตือนภัยธรรมชาติของร่างกายมนุษย์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FD54672D-2408-E3DA-B537-A65BA17BCEA9}"/>
              </a:ext>
            </a:extLst>
          </p:cNvPr>
          <p:cNvSpPr txBox="1"/>
          <p:nvPr/>
        </p:nvSpPr>
        <p:spPr>
          <a:xfrm>
            <a:off x="502443" y="2509107"/>
            <a:ext cx="10784681" cy="334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Cortisol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ทำงานเพื่อความอยู่รอดของชีวิต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เร่งให้ตับปล่อยน้ำตาลเข้าสู่กระแสเลือด เพื่อ </a:t>
            </a:r>
            <a:r>
              <a:rPr lang="en-US" sz="2400" dirty="0">
                <a:solidFill>
                  <a:srgbClr val="475569"/>
                </a:solidFill>
                <a:latin typeface="Sarabun"/>
                <a:cs typeface="Sarabun"/>
              </a:rPr>
              <a:t>boost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พลังงาน โดยทำให้หัวใจเต้นเร็วขึ้น กล้ามเนื้อมีแรงหนีภัย (เช่นเมื่อโดนหมาไล่กัด)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ปิดระบบที่ไม่จำเป็น มันจะทำให้สมองสั่งการว่า “ตอนนี้มีภัยมาถึง ร่างกายกำลังจะตาย ต้องหนีภัยก่อน ให้ปิดระบบย่อยอาหารหรือซ่อมแซมร่างกายหรืออื่นๆ ลงก่อน”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เมื่อพ้นภัยแล้ว มันจะหยุดการทำงาน </a:t>
            </a:r>
          </a:p>
        </p:txBody>
      </p:sp>
    </p:spTree>
    <p:extLst>
      <p:ext uri="{BB962C8B-B14F-4D97-AF65-F5344CB8AC3E}">
        <p14:creationId xmlns:p14="http://schemas.microsoft.com/office/powerpoint/2010/main" val="3674375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8D2400A4-F4BB-95E3-273E-B90EB98D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1" descr="image.png">
            <a:extLst>
              <a:ext uri="{FF2B5EF4-FFF2-40B4-BE49-F238E27FC236}">
                <a16:creationId xmlns:a16="http://schemas.microsoft.com/office/drawing/2014/main" id="{E1B9BE49-60D5-9631-D742-1D77EEA923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1">
            <a:extLst>
              <a:ext uri="{FF2B5EF4-FFF2-40B4-BE49-F238E27FC236}">
                <a16:creationId xmlns:a16="http://schemas.microsoft.com/office/drawing/2014/main" id="{4D78550B-C4E7-E9C1-DD35-3F6A08C015EB}"/>
              </a:ext>
            </a:extLst>
          </p:cNvPr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Cortisol </a:t>
            </a: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ผิดปกติคืออะไร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B7F1304-70D8-CF93-33AD-777AD9E99CA0}"/>
              </a:ext>
            </a:extLst>
          </p:cNvPr>
          <p:cNvSpPr txBox="1"/>
          <p:nvPr/>
        </p:nvSpPr>
        <p:spPr>
          <a:xfrm>
            <a:off x="502443" y="1233814"/>
            <a:ext cx="10784681" cy="112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Cortisol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ผิดปกติคือ “ความเครียดเรื้อรัง” หรือ “ความเครียดสะสม”  เกิดจาก </a:t>
            </a:r>
            <a:r>
              <a:rPr lang="en-US" sz="2400" dirty="0">
                <a:solidFill>
                  <a:srgbClr val="475569"/>
                </a:solidFill>
                <a:latin typeface="Sarabun"/>
                <a:cs typeface="Sarabun"/>
              </a:rPr>
              <a:t>deadline 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กระชั้น, หัวหน้าด่า, หรือทำงานในสภาพการณ์ที่ไม่ปลอดภัยเป็นประจำ </a:t>
            </a: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ED823AFC-DBAE-5368-C316-366DDEC15FED}"/>
              </a:ext>
            </a:extLst>
          </p:cNvPr>
          <p:cNvSpPr txBox="1"/>
          <p:nvPr/>
        </p:nvSpPr>
        <p:spPr>
          <a:xfrm>
            <a:off x="502443" y="2445982"/>
            <a:ext cx="10784681" cy="573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b="1" dirty="0">
                <a:solidFill>
                  <a:srgbClr val="475569"/>
                </a:solidFill>
                <a:latin typeface="Sarabun"/>
                <a:cs typeface="Sarabun"/>
              </a:rPr>
              <a:t>ผลกระทบจาก </a:t>
            </a:r>
            <a:r>
              <a:rPr lang="th-TH" sz="2400" b="1" dirty="0" err="1">
                <a:solidFill>
                  <a:srgbClr val="475569"/>
                </a:solidFill>
                <a:latin typeface="Sarabun"/>
                <a:cs typeface="Sarabun"/>
              </a:rPr>
              <a:t>Cortisol</a:t>
            </a:r>
            <a:r>
              <a:rPr lang="th-TH" sz="2400" b="1" dirty="0">
                <a:solidFill>
                  <a:srgbClr val="475569"/>
                </a:solidFill>
                <a:latin typeface="Sarabun"/>
                <a:cs typeface="Sarabun"/>
              </a:rPr>
              <a:t> ผิดปกติ</a:t>
            </a: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D61AA700-D86E-C0B5-2FCF-BCA83C356C85}"/>
              </a:ext>
            </a:extLst>
          </p:cNvPr>
          <p:cNvSpPr txBox="1"/>
          <p:nvPr/>
        </p:nvSpPr>
        <p:spPr>
          <a:xfrm>
            <a:off x="502443" y="3104152"/>
            <a:ext cx="10784681" cy="2789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สมองเบลอ ตัดสินใจพลาด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กระเพาะอาหารพัง (แผลในกระเพาะ/กรดไหลย้อน)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กล้ามเนื้ออ่อนล้า ไม่มีแรง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ป่วยง่าย ร่างกายทรุดโทรม ภูมิคุ้มกันถูกกดไว้ไม่ให้ทำงานหรือซ่อมแซมร่างกาย</a:t>
            </a: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315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142E606B-5355-F5A2-472F-6C51DD1E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1" descr="image.png">
            <a:extLst>
              <a:ext uri="{FF2B5EF4-FFF2-40B4-BE49-F238E27FC236}">
                <a16:creationId xmlns:a16="http://schemas.microsoft.com/office/drawing/2014/main" id="{4F32D911-9CEA-ED0A-0515-9E2C39582F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1">
            <a:extLst>
              <a:ext uri="{FF2B5EF4-FFF2-40B4-BE49-F238E27FC236}">
                <a16:creationId xmlns:a16="http://schemas.microsoft.com/office/drawing/2014/main" id="{271F548C-D10B-F664-1556-DFFBA341FFA0}"/>
              </a:ext>
            </a:extLst>
          </p:cNvPr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Cortisol </a:t>
            </a: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Sarabun"/>
              </a:rPr>
              <a:t>เป็นผู้ร้ายหรือไม่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6EE20972-7AB0-015B-3F27-10CAD18B30F9}"/>
              </a:ext>
            </a:extLst>
          </p:cNvPr>
          <p:cNvSpPr txBox="1"/>
          <p:nvPr/>
        </p:nvSpPr>
        <p:spPr>
          <a:xfrm>
            <a:off x="502443" y="1233814"/>
            <a:ext cx="10784681" cy="5005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Cortisol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  ไม่ใช่ผู้ร้าย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มันคือพระเอกตอนมีภัยมาถึง ช่วยให้เรามีแรงหนีภัย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th-TH" sz="2400" dirty="0">
              <a:solidFill>
                <a:srgbClr val="475569"/>
              </a:solidFill>
              <a:latin typeface="Sarabun"/>
              <a:cs typeface="Sarabun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แต่ถ้าพระเอกทำงานมากไป หรือ</a:t>
            </a:r>
            <a:r>
              <a:rPr lang="th-TH" sz="2400" dirty="0" err="1">
                <a:solidFill>
                  <a:srgbClr val="475569"/>
                </a:solidFill>
                <a:latin typeface="Sarabun"/>
                <a:cs typeface="Sarabun"/>
              </a:rPr>
              <a:t>ทำใน</a:t>
            </a: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ยามที่ไม่ต้องรับบท มันจะมีผลร้ายมากกว่าผลดี เนื่องจากมันเป็นตัวขัดขวางการทำงานของระบบอื่นๆ เช่น ระบบย่อยอาหาร ระบบภูมิคุ้มกัน และระบบอื่นๆ </a:t>
            </a:r>
          </a:p>
          <a:p>
            <a:pPr>
              <a:lnSpc>
                <a:spcPct val="150000"/>
              </a:lnSpc>
            </a:pPr>
            <a:endParaRPr lang="th-TH" sz="2400" dirty="0">
              <a:solidFill>
                <a:srgbClr val="475569"/>
              </a:solidFill>
              <a:latin typeface="Sarabun"/>
              <a:cs typeface="Sarabun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solidFill>
                  <a:srgbClr val="475569"/>
                </a:solidFill>
                <a:latin typeface="Sarabun"/>
                <a:cs typeface="Sarabun"/>
              </a:rPr>
              <a:t>ถ้ามันทำงานมากเกินไป ระบบจะทำงานจนเครื่อง(ร่างกาย) พังจากภายใน ซึ่งหนีได้ยากกว่าภัยใดๆ จากภายนอก</a:t>
            </a:r>
          </a:p>
        </p:txBody>
      </p:sp>
    </p:spTree>
    <p:extLst>
      <p:ext uri="{BB962C8B-B14F-4D97-AF65-F5344CB8AC3E}">
        <p14:creationId xmlns:p14="http://schemas.microsoft.com/office/powerpoint/2010/main" val="28563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0C8A4EBF-00F5-E297-7876-2D353D78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1" descr="image.png">
            <a:extLst>
              <a:ext uri="{FF2B5EF4-FFF2-40B4-BE49-F238E27FC236}">
                <a16:creationId xmlns:a16="http://schemas.microsoft.com/office/drawing/2014/main" id="{6E1133B7-4E52-EBCE-64ED-188DEF60D6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1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9C8912C8-ECE0-81BC-699F-4B51EA6EF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76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3"/>
          <p:cNvSpPr txBox="1"/>
          <p:nvPr/>
        </p:nvSpPr>
        <p:spPr>
          <a:xfrm>
            <a:off x="714375" y="409158"/>
            <a:ext cx="1145143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กิจกรรม</a:t>
            </a:r>
            <a:r>
              <a:rPr lang="en-US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: </a:t>
            </a:r>
            <a:r>
              <a:rPr lang="en-US" sz="4400" b="1" dirty="0" err="1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ออกแบบ</a:t>
            </a:r>
            <a:r>
              <a:rPr lang="th-TH" sz="44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ความซวยสุดขั้วให้ตัวละคร </a:t>
            </a:r>
            <a:r>
              <a:rPr lang="th-TH" sz="3600" b="1" dirty="0">
                <a:solidFill>
                  <a:srgbClr val="4F46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 New" panose="020B0500040200020003" pitchFamily="34" charset="-34"/>
                <a:cs typeface="TH Sarabun New" panose="020B0500040200020003" pitchFamily="34" charset="-34"/>
                <a:sym typeface="Prompt"/>
              </a:rPr>
              <a:t>(ใช้ตัวละครนี้ไปตลอดเทอม)</a:t>
            </a:r>
            <a:endParaRPr sz="4400" b="1" dirty="0">
              <a:solidFill>
                <a:srgbClr val="4F46E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Google Shape;433;p23">
            <a:extLst>
              <a:ext uri="{FF2B5EF4-FFF2-40B4-BE49-F238E27FC236}">
                <a16:creationId xmlns:a16="http://schemas.microsoft.com/office/drawing/2014/main" id="{C3D4F7B7-8502-38F1-564F-86562B4F4DD8}"/>
              </a:ext>
            </a:extLst>
          </p:cNvPr>
          <p:cNvSpPr txBox="1"/>
          <p:nvPr/>
        </p:nvSpPr>
        <p:spPr>
          <a:xfrm>
            <a:off x="762000" y="1312484"/>
            <a:ext cx="9858375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i="0" u="none" strike="noStrike" cap="none" dirty="0">
                <a:solidFill>
                  <a:srgbClr val="1E1B4B"/>
                </a:solidFill>
                <a:latin typeface="Sarabun Medium"/>
                <a:ea typeface="Sarabun"/>
                <a:cs typeface="Sarabun Medium"/>
                <a:sym typeface="Sarabun Medium"/>
              </a:rPr>
              <a:t>แนวคิดหลัก 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อันตรายทุกอย่าง ไม่ได้เกิดมาโดยลำพัง  มันมักจะมาพร้อมกันจนตัวละครของเราหมดทางรอด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ea typeface="Sarabun"/>
                <a:cs typeface="Sarabun Medium"/>
                <a:sym typeface="Sarabun Medium"/>
              </a:rPr>
              <a:t>คนที่เห็นอันตรายมากกว่า จะสามารถยืนสู้เพื่อเอาชีวิตรอดได้นานกว่า (นานพอที่อันตรายจะจบลง หรือมีคนมาช่วย) </a:t>
            </a:r>
            <a:r>
              <a:rPr lang="th-TH" sz="1200" b="0" i="0" u="none" strike="noStrike" cap="none" dirty="0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endParaRPr sz="1200" dirty="0"/>
          </a:p>
        </p:txBody>
      </p:sp>
      <p:sp>
        <p:nvSpPr>
          <p:cNvPr id="4" name="Google Shape;433;p23">
            <a:extLst>
              <a:ext uri="{FF2B5EF4-FFF2-40B4-BE49-F238E27FC236}">
                <a16:creationId xmlns:a16="http://schemas.microsoft.com/office/drawing/2014/main" id="{7A2B244F-BC95-AC23-B00D-0EED415DBEC4}"/>
              </a:ext>
            </a:extLst>
          </p:cNvPr>
          <p:cNvSpPr txBox="1"/>
          <p:nvPr/>
        </p:nvSpPr>
        <p:spPr>
          <a:xfrm>
            <a:off x="762000" y="3547911"/>
            <a:ext cx="985837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i="0" u="none" strike="noStrike" cap="none" dirty="0">
                <a:solidFill>
                  <a:srgbClr val="1E1B4B"/>
                </a:solidFill>
                <a:latin typeface="Sarabun Medium"/>
                <a:ea typeface="Sarabun"/>
                <a:cs typeface="Sarabun Medium"/>
                <a:sym typeface="Sarabun Medium"/>
              </a:rPr>
              <a:t>กิจกรรม 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- แบ่งกลุ่ม เขียนบทละครแห่งความโชคร้าย ที่มีอันตรายหลากหลายเข้ามาปะทะตัวละครของเรา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- เป้าหมายคือ ให้ตัวละครได้รับอันตรายที่ซับซ้อนจนไม่มีชีวิตรอด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(เพื่อที่เราจะหาทางช่วยให้เขารอดในสัปดาห์ถัดไป)</a:t>
            </a: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th-TH" sz="1800" dirty="0">
              <a:solidFill>
                <a:srgbClr val="1E1B4B"/>
              </a:solidFill>
              <a:latin typeface="Sarabun Medium"/>
              <a:cs typeface="Sarabun Medium"/>
              <a:sym typeface="Sarabun Medium"/>
            </a:endParaRPr>
          </a:p>
          <a:p>
            <a:pPr marL="285750" marR="0" lvl="0" indent="-28575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th-TH" sz="1800" dirty="0">
                <a:solidFill>
                  <a:srgbClr val="1E1B4B"/>
                </a:solidFill>
                <a:latin typeface="Sarabun Medium"/>
                <a:cs typeface="Sarabun Medium"/>
                <a:sym typeface="Sarabun Medium"/>
              </a:rPr>
              <a:t>ห้ามเขียนสั้นเกิน เช่น  เริ่มเรื่องมาก็เจออันตรายร้ายแรง เช่นอุกกาบาตชนโลกแบบไม่ทันเจออันตรายอื่นๆ เลย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2062</Words>
  <Application>Microsoft Office PowerPoint</Application>
  <PresentationFormat>Widescreen</PresentationFormat>
  <Paragraphs>107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Sarabun Medium</vt:lpstr>
      <vt:lpstr>Courier New</vt:lpstr>
      <vt:lpstr>Aptos ExtraBold</vt:lpstr>
      <vt:lpstr>Prompt</vt:lpstr>
      <vt:lpstr>Comfortaa</vt:lpstr>
      <vt:lpstr>Amasis MT Pro Black</vt:lpstr>
      <vt:lpstr>Prompt Medium</vt:lpstr>
      <vt:lpstr>Cambria Math</vt:lpstr>
      <vt:lpstr>Arial</vt:lpstr>
      <vt:lpstr>Sarabun</vt:lpstr>
      <vt:lpstr>TH Sarabun New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Koson Trachu</dc:creator>
  <cp:lastModifiedBy>Koson Trachu</cp:lastModifiedBy>
  <cp:revision>4</cp:revision>
  <dcterms:modified xsi:type="dcterms:W3CDTF">2026-07-16T01:50:53Z</dcterms:modified>
</cp:coreProperties>
</file>